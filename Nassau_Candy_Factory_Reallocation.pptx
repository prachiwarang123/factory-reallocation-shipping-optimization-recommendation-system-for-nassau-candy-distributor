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81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1810"/>
                </a:solidFill>
                <a:latin typeface="+mn-lt"/>
              </a:rPr>
              <a:t>Sales by current factory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E639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8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Lot's O' Nuts</c:v>
                  </c:pt>
                  <c:pt idx="1">
                    <c:v>Wicked Choccy's</c:v>
                  </c:pt>
                  <c:pt idx="2">
                    <c:v>Secret Factory</c:v>
                  </c:pt>
                  <c:pt idx="3">
                    <c:v>The Other Factory</c:v>
                  </c:pt>
                  <c:pt idx="4">
                    <c:v>Sugar Shack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76340</c:v>
                </c:pt>
                <c:pt idx="1">
                  <c:v>55353</c:v>
                </c:pt>
                <c:pt idx="2">
                  <c:v>8588</c:v>
                </c:pt>
                <c:pt idx="3">
                  <c:v>1282</c:v>
                </c:pt>
                <c:pt idx="4">
                  <c:v>221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8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D9C7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81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1810"/>
                </a:solidFill>
                <a:latin typeface="+mn-lt"/>
              </a:rPr>
              <a:t>Average distance per order line (km)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factory</c:v>
                </c:pt>
              </c:strCache>
            </c:strRef>
          </c:tx>
          <c:spPr>
            <a:solidFill>
              <a:srgbClr val="E639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8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Lot's O' Nuts</c:v>
                  </c:pt>
                  <c:pt idx="1">
                    <c:v>Wicked Choccy's</c:v>
                  </c:pt>
                  <c:pt idx="2">
                    <c:v>Sugar Shack</c:v>
                  </c:pt>
                  <c:pt idx="3">
                    <c:v>The Other Factory</c:v>
                  </c:pt>
                  <c:pt idx="4">
                    <c:v>Secret Factory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2144</c:v>
                </c:pt>
                <c:pt idx="1">
                  <c:v>1859</c:v>
                </c:pt>
                <c:pt idx="2">
                  <c:v>1797</c:v>
                </c:pt>
                <c:pt idx="3">
                  <c:v>1642</c:v>
                </c:pt>
                <c:pt idx="4">
                  <c:v>1430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Nearest factory</c:v>
                </c:pt>
              </c:strCache>
            </c:strRef>
          </c:tx>
          <c:spPr>
            <a:solidFill>
              <a:srgbClr val="2E9C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8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Lot's O' Nuts</c:v>
                  </c:pt>
                  <c:pt idx="1">
                    <c:v>Wicked Choccy's</c:v>
                  </c:pt>
                  <c:pt idx="2">
                    <c:v>Sugar Shack</c:v>
                  </c:pt>
                  <c:pt idx="3">
                    <c:v>The Other Factory</c:v>
                  </c:pt>
                  <c:pt idx="4">
                    <c:v>Secret Factory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819</c:v>
                </c:pt>
                <c:pt idx="1">
                  <c:v>811</c:v>
                </c:pt>
                <c:pt idx="2">
                  <c:v>853</c:v>
                </c:pt>
                <c:pt idx="3">
                  <c:v>903</c:v>
                </c:pt>
                <c:pt idx="4">
                  <c:v>804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8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9C7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55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81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1810"/>
                </a:solidFill>
                <a:latin typeface="+mn-lt"/>
              </a:rPr>
              <a:t>Silhouette score by number of clusters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7B4B94"/>
            </a:solidFill>
            <a:ln w="38100" cap="flat">
              <a:solidFill>
                <a:srgbClr val="7B4B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81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B4B94"/>
              </a:solidFill>
              <a:ln w="9525" cap="flat">
                <a:solidFill>
                  <a:srgbClr val="7B4B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0.582</c:v>
                </c:pt>
                <c:pt idx="1">
                  <c:v>0.444</c:v>
                </c:pt>
                <c:pt idx="2">
                  <c:v>0.466</c:v>
                </c:pt>
                <c:pt idx="3">
                  <c:v>0.501</c:v>
                </c:pt>
                <c:pt idx="4">
                  <c:v>0.502</c:v>
                </c:pt>
                <c:pt idx="5">
                  <c:v>0.523</c:v>
                </c:pt>
                <c:pt idx="6">
                  <c:v>0.511</c:v>
                </c:pt>
                <c:pt idx="7">
                  <c:v>0.515</c:v>
                </c:pt>
                <c:pt idx="8">
                  <c:v>0.508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81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556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5560"/>
                    </a:solidFill>
                    <a:latin typeface="Arial"/>
                  </a:rPr>
                  <a:t>Clusters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3"/>
        </c:scaling>
        <c:delete val="0"/>
        <c:axPos val="l"/>
        <c:majorGridlines>
          <c:spPr>
            <a:ln w="6350" cap="flat">
              <a:solidFill>
                <a:srgbClr val="D9C7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score</c:v>
                </c:pt>
              </c:strCache>
            </c:strRef>
          </c:tx>
          <c:spPr>
            <a:solidFill>
              <a:srgbClr val="E639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8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Triple Dazzle: Wicked &gt; Lot's</c:v>
                  </c:pt>
                  <c:pt idx="1">
                    <c:v>Scrumdiddly: Lot's &gt; Wicked</c:v>
                  </c:pt>
                  <c:pt idx="2">
                    <c:v>Milk Choc: Wicked &gt; Lot's</c:v>
                  </c:pt>
                  <c:pt idx="3">
                    <c:v>Fudge Mallows: Lot's &gt; Wicked</c:v>
                  </c:pt>
                  <c:pt idx="4">
                    <c:v>Nutty Crunch: Lot's &gt; Wicked</c:v>
                  </c:pt>
                  <c:pt idx="5">
                    <c:v>Nutty Crunch: Lot's &gt; Secret</c:v>
                  </c:pt>
                  <c:pt idx="6">
                    <c:v>Scrumdiddly: Lot's &gt; Secret</c:v>
                  </c:pt>
                  <c:pt idx="7">
                    <c:v>Fudge Mallows: Lot's &gt; Secret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91.5</c:v>
                </c:pt>
                <c:pt idx="1">
                  <c:v>90.9</c:v>
                </c:pt>
                <c:pt idx="2">
                  <c:v>90.5</c:v>
                </c:pt>
                <c:pt idx="3">
                  <c:v>83.3</c:v>
                </c:pt>
                <c:pt idx="4">
                  <c:v>80.1</c:v>
                </c:pt>
                <c:pt idx="5">
                  <c:v>67.8</c:v>
                </c:pt>
                <c:pt idx="6">
                  <c:v>66.7</c:v>
                </c:pt>
                <c:pt idx="7">
                  <c:v>65.1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B18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1"/>
        <c:axPos val="b"/>
        <c:majorGridlines>
          <c:spPr>
            <a:ln w="6350" cap="flat">
              <a:solidFill>
                <a:srgbClr val="D9C7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goal: find out whether product-to-factory assignments create unnecessarily long shipping distances, and which reallocation scenarios deserve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FACTORY REALLOCATION &amp; SHIPPING OPTIMIZATION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Nassau Candy make what?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recommendation system built on 10,194 orders, 15 products, 5 factories and 655 customer destinations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Internship Project  |  Unified Mentor</a:t>
            </a:r>
            <a:endParaRPr lang="en-US" sz="1200" dirty="0"/>
          </a:p>
        </p:txBody>
      </p:sp>
      <p:sp>
        <p:nvSpPr>
          <p:cNvPr id="6" name="Candy 0"/>
          <p:cNvSpPr/>
          <p:nvPr/>
        </p:nvSpPr>
        <p:spPr>
          <a:xfrm>
            <a:off x="6766560" y="292608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Candy 1"/>
          <p:cNvSpPr/>
          <p:nvPr/>
        </p:nvSpPr>
        <p:spPr>
          <a:xfrm>
            <a:off x="7589520" y="356616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Candy 2"/>
          <p:cNvSpPr/>
          <p:nvPr/>
        </p:nvSpPr>
        <p:spPr>
          <a:xfrm>
            <a:off x="6492240" y="38404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distances are far longer than needed</a:t>
            </a:r>
            <a:endParaRPr lang="en-US" sz="2800" dirty="0"/>
          </a:p>
        </p:txBody>
      </p:sp>
      <p:sp>
        <p:nvSpPr>
          <p:cNvPr id="3" name="Stat 1"/>
          <p:cNvSpPr/>
          <p:nvPr/>
        </p:nvSpPr>
        <p:spPr>
          <a:xfrm>
            <a:off x="548640" y="137160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31.7%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of order lines ship from the geographically nearest factory</a:t>
            </a:r>
            <a:endParaRPr lang="en-US" sz="1300" dirty="0"/>
          </a:p>
        </p:txBody>
      </p:sp>
      <p:sp>
        <p:nvSpPr>
          <p:cNvPr id="6" name="Stat 2"/>
          <p:cNvSpPr/>
          <p:nvPr/>
        </p:nvSpPr>
        <p:spPr>
          <a:xfrm>
            <a:off x="2606040" y="137160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2,007 km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2402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average current distance, vs 816 km to the nearest factory</a:t>
            </a:r>
            <a:endParaRPr lang="en-US" sz="1300" dirty="0"/>
          </a:p>
        </p:txBody>
      </p:sp>
      <p:sp>
        <p:nvSpPr>
          <p:cNvPr id="9" name="Stat 3"/>
          <p:cNvSpPr/>
          <p:nvPr/>
        </p:nvSpPr>
        <p:spPr>
          <a:xfrm>
            <a:off x="4663440" y="137160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2402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top priority score (of 100): Triple Dazzle Caramel, Wicked Choccy's to Lot's O' Nuts</a:t>
            </a:r>
            <a:endParaRPr lang="en-US" sz="1300" dirty="0"/>
          </a:p>
        </p:txBody>
      </p:sp>
      <p:sp>
        <p:nvSpPr>
          <p:cNvPr id="12" name="Stat 4"/>
          <p:cNvSpPr/>
          <p:nvPr/>
        </p:nvSpPr>
        <p:spPr>
          <a:xfrm>
            <a:off x="6720840" y="1371600"/>
            <a:ext cx="1874520" cy="21031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2402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savings confirmed: factory eligibility and capacity are unverified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analysis produces a ranked shortlist of 20 reallocation scenarios to investigate, not approved transfers. Real savings need eligibility, capacity and cost validation first.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question: is shipping distance avoidable?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Each product is made at one factory and shipped to customers across the US and Canada. We compare today's factory-to-customer distance with the distance to the nearest factory.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9768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2976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Inspect and clean the supplied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7556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 each product to its current factory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232257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3225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Geocode customers and place factories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28895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8895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Compute factory-to-destination distances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34564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976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456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and rank reallocation scenarios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40233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97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Report findings and limitations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Method: from raw orders to a ranked shortlist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548640" y="1463040"/>
            <a:ext cx="1463040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Dates, nulls, duplicates, profit identity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2194560" y="1463040"/>
            <a:ext cx="1463040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1645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6517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15 products to 5 factories</a:t>
            </a:r>
            <a:endParaRPr lang="en-US" sz="1300" dirty="0"/>
          </a:p>
        </p:txBody>
      </p:sp>
      <p:sp>
        <p:nvSpPr>
          <p:cNvPr id="13" name="Step 3"/>
          <p:cNvSpPr/>
          <p:nvPr/>
        </p:nvSpPr>
        <p:spPr>
          <a:xfrm>
            <a:off x="3840480" y="1463040"/>
            <a:ext cx="1463040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645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43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Geocode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6517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655 destinations via OpenStreetMap</a:t>
            </a:r>
            <a:endParaRPr lang="en-US" sz="1300" dirty="0"/>
          </a:p>
        </p:txBody>
      </p:sp>
      <p:sp>
        <p:nvSpPr>
          <p:cNvPr id="18" name="Step 4"/>
          <p:cNvSpPr/>
          <p:nvPr/>
        </p:nvSpPr>
        <p:spPr>
          <a:xfrm>
            <a:off x="5486400" y="1463040"/>
            <a:ext cx="1463040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6459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89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26517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Haversine, 3,275 pairs</a:t>
            </a:r>
            <a:endParaRPr lang="en-US" sz="1300" dirty="0"/>
          </a:p>
        </p:txBody>
      </p:sp>
      <p:sp>
        <p:nvSpPr>
          <p:cNvPr id="23" name="Step 5"/>
          <p:cNvSpPr/>
          <p:nvPr/>
        </p:nvSpPr>
        <p:spPr>
          <a:xfrm>
            <a:off x="7132320" y="1463040"/>
            <a:ext cx="1463040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35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6517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Weighted priority score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Tools: Python, pandas, geopy, scikit-learn (K-Means), matplotlib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Financials are clean; shipping dates are not</a:t>
            </a:r>
            <a:endParaRPr lang="en-US" sz="2800" dirty="0"/>
          </a:p>
        </p:txBody>
      </p:sp>
      <p:sp>
        <p:nvSpPr>
          <p:cNvPr id="3" name="Clean card"/>
          <p:cNvSpPr/>
          <p:nvPr/>
        </p:nvSpPr>
        <p:spPr>
          <a:xfrm>
            <a:off x="54864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checks out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missing values or duplicate rows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Sales = Gross Profit + Cost on every row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negative or zero business values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product maps to exactly one division and one factory</a:t>
            </a:r>
            <a:endParaRPr lang="en-US" sz="1500" dirty="0"/>
          </a:p>
        </p:txBody>
      </p:sp>
      <p:sp>
        <p:nvSpPr>
          <p:cNvPr id="6" name="Issue card"/>
          <p:cNvSpPr/>
          <p:nvPr/>
        </p:nvSpPr>
        <p:spPr>
          <a:xfrm>
            <a:off x="475488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not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874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904 to 1,642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697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days between order and ship date on all 10,194 rows (orders 2024-25, ship dates 2026-30). Every ship mode shows the same pattern.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Delivery-time analysis was set aside; the study uses distance instead.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factories carry 93% of sales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aseline card"/>
          <p:cNvSpPr/>
          <p:nvPr/>
        </p:nvSpPr>
        <p:spPr>
          <a:xfrm>
            <a:off x="5852160" y="1280160"/>
            <a:ext cx="274320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4173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$141.8K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total sales, 38,654 units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$93.4K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gross profit (about 66% margin)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Lot's O' Nuts alone makes 56% of profit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ship about 2.5x farther than needed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istance callouts"/>
          <p:cNvSpPr/>
          <p:nvPr/>
        </p:nvSpPr>
        <p:spPr>
          <a:xfrm>
            <a:off x="6400800" y="1280160"/>
            <a:ext cx="2194560" cy="23774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41732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10,176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order lines matched to coordinates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6,949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have a nearer factory than the one used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splits demand into east and west zones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luster 0"/>
          <p:cNvSpPr/>
          <p:nvPr/>
        </p:nvSpPr>
        <p:spPr>
          <a:xfrm>
            <a:off x="5303520" y="1280160"/>
            <a:ext cx="32918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0" y="1463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East: 458 destinations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67.3% of units (26,022)</a:t>
            </a:r>
            <a:endParaRPr lang="en-US" sz="1400" dirty="0"/>
          </a:p>
        </p:txBody>
      </p:sp>
      <p:sp>
        <p:nvSpPr>
          <p:cNvPr id="6" name="Cluster 1"/>
          <p:cNvSpPr/>
          <p:nvPr/>
        </p:nvSpPr>
        <p:spPr>
          <a:xfrm>
            <a:off x="5303520" y="2651760"/>
            <a:ext cx="32918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0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West: 197 destinations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32.7% of units (12,632)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Best k = 2 (score 0.58). Exploratory only; the factories sit in the south and centre, not at cluster centres.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scenarios are ranked</a:t>
            </a:r>
            <a:endParaRPr lang="en-US" sz="2800" dirty="0"/>
          </a:p>
        </p:txBody>
      </p:sp>
      <p:sp>
        <p:nvSpPr>
          <p:cNvPr id="3" name="Weight 1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Distance reduction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Percent drop in average distance vs the current factory</a:t>
            </a:r>
            <a:endParaRPr lang="en-US" sz="1300" dirty="0"/>
          </a:p>
        </p:txBody>
      </p:sp>
      <p:sp>
        <p:nvSpPr>
          <p:cNvPr id="7" name="Weight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Unit volume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Units that would be affected by the change</a:t>
            </a:r>
            <a:endParaRPr lang="en-US" sz="1300" dirty="0"/>
          </a:p>
        </p:txBody>
      </p:sp>
      <p:sp>
        <p:nvSpPr>
          <p:cNvPr id="11" name="Weight 3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Sales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Revenue tied to those units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factor is min-max scaled to 0-1, then combined and multiplied by 100. Scope: the five high-volume Wonka Bars, 20 scenarios in total.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scenarios swap bars between the big two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op callout"/>
          <p:cNvSpPr/>
          <p:nvPr/>
        </p:nvSpPr>
        <p:spPr>
          <a:xfrm>
            <a:off x="6400800" y="1280160"/>
            <a:ext cx="21945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41732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theoretical distance cut for the top scenario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2,559 units, $9.6K sales affected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before any factory moves</a:t>
            </a:r>
            <a:endParaRPr lang="en-US" sz="2800" dirty="0"/>
          </a:p>
        </p:txBody>
      </p:sp>
      <p:sp>
        <p:nvSpPr>
          <p:cNvPr id="3" name="Row 1"/>
          <p:cNvSpPr/>
          <p:nvPr/>
        </p:nvSpPr>
        <p:spPr>
          <a:xfrm>
            <a:off x="548640" y="1234440"/>
            <a:ext cx="804672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93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344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 the alternative factory can actually make the product</a:t>
            </a:r>
            <a:endParaRPr lang="en-US" sz="1500" dirty="0"/>
          </a:p>
        </p:txBody>
      </p:sp>
      <p:sp>
        <p:nvSpPr>
          <p:cNvPr id="7" name="Row 2"/>
          <p:cNvSpPr/>
          <p:nvPr/>
        </p:nvSpPr>
        <p:spPr>
          <a:xfrm>
            <a:off x="548640" y="1911096"/>
            <a:ext cx="804672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1109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production capacity and operational constraints</a:t>
            </a:r>
            <a:endParaRPr lang="en-US" sz="1500" dirty="0"/>
          </a:p>
        </p:txBody>
      </p:sp>
      <p:sp>
        <p:nvSpPr>
          <p:cNvPr id="11" name="Row 3"/>
          <p:cNvSpPr/>
          <p:nvPr/>
        </p:nvSpPr>
        <p:spPr>
          <a:xfrm>
            <a:off x="548640" y="2587752"/>
            <a:ext cx="804672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4261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58775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Replace straight-line distance with road distance and freight cost</a:t>
            </a:r>
            <a:endParaRPr lang="en-US" sz="1500" dirty="0"/>
          </a:p>
        </p:txBody>
      </p:sp>
      <p:sp>
        <p:nvSpPr>
          <p:cNvPr id="15" name="Row 4"/>
          <p:cNvSpPr/>
          <p:nvPr/>
        </p:nvSpPr>
        <p:spPr>
          <a:xfrm>
            <a:off x="548640" y="3264408"/>
            <a:ext cx="804672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1927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26440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 and explain the shipping-date anomaly, then measure lead time</a:t>
            </a:r>
            <a:endParaRPr lang="en-US" sz="1500" dirty="0"/>
          </a:p>
        </p:txBody>
      </p:sp>
      <p:sp>
        <p:nvSpPr>
          <p:cNvPr id="19" name="Row 5"/>
          <p:cNvSpPr/>
          <p:nvPr/>
        </p:nvSpPr>
        <p:spPr>
          <a:xfrm>
            <a:off x="548640" y="3941064"/>
            <a:ext cx="804672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9959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94106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Pilot only scenarios that pass operational and financial checks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IMPORTANT LIMITATION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shortlist to investigate, not a proven saving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Straight-line (Haversine) distance, not road or freight cost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No evidence yet that other factories can make each product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23 of 655 destinations geocoded at city level only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Order-to-ship dates unusable for delivery-time analysis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ssau Candy">
  <a:themeElements>
    <a:clrScheme name="Nassau Candy">
      <a:dk1>
        <a:srgbClr val="2B1810"/>
      </a:dk1>
      <a:lt1>
        <a:srgbClr val="FFFFFF"/>
      </a:lt1>
      <a:dk2>
        <a:srgbClr val="6B5560"/>
      </a:dk2>
      <a:lt2>
        <a:srgbClr val="FBF3F6"/>
      </a:lt2>
      <a:accent1>
        <a:srgbClr val="E6397A"/>
      </a:accent1>
      <a:accent2>
        <a:srgbClr val="F5A623"/>
      </a:accent2>
      <a:accent3>
        <a:srgbClr val="7B4B94"/>
      </a:accent3>
      <a:accent4>
        <a:srgbClr val="2E9C8F"/>
      </a:accent4>
      <a:accent5>
        <a:srgbClr val="8D6E63"/>
      </a:accent5>
      <a:accent6>
        <a:srgbClr val="D9C7CF"/>
      </a:accent6>
      <a:hlink>
        <a:srgbClr val="E6397A"/>
      </a:hlink>
      <a:folHlink>
        <a:srgbClr val="7B4B94"/>
      </a:folHlink>
    </a:clrScheme>
    <a:fontScheme name="Nassau Can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Reallocation &amp; Shipping Optimization - Nassau Candy</dc:title>
  <dc:subject>PptxGenJS Presentation</dc:subject>
  <dc:creator>PptxGenJS</dc:creator>
  <cp:lastModifiedBy>PptxGenJS</cp:lastModifiedBy>
  <cp:revision>1</cp:revision>
  <dcterms:created xsi:type="dcterms:W3CDTF">2026-10-22T14:30:26Z</dcterms:created>
  <dcterms:modified xsi:type="dcterms:W3CDTF">2026-10-22T14:30:26Z</dcterms:modified>
</cp:coreProperties>
</file>